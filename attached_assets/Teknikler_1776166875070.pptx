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7" r:id="rId3"/>
    <p:sldId id="269" r:id="rId4"/>
    <p:sldId id="330" r:id="rId5"/>
    <p:sldId id="331" r:id="rId6"/>
    <p:sldId id="332" r:id="rId7"/>
    <p:sldId id="397" r:id="rId8"/>
    <p:sldId id="396" r:id="rId9"/>
    <p:sldId id="333" r:id="rId10"/>
    <p:sldId id="362" r:id="rId11"/>
    <p:sldId id="395" r:id="rId12"/>
    <p:sldId id="363" r:id="rId13"/>
    <p:sldId id="364" r:id="rId14"/>
    <p:sldId id="400" r:id="rId15"/>
    <p:sldId id="339" r:id="rId16"/>
    <p:sldId id="366" r:id="rId17"/>
    <p:sldId id="336" r:id="rId18"/>
    <p:sldId id="390" r:id="rId19"/>
    <p:sldId id="372" r:id="rId20"/>
    <p:sldId id="380" r:id="rId21"/>
    <p:sldId id="367" r:id="rId22"/>
    <p:sldId id="373" r:id="rId23"/>
    <p:sldId id="374" r:id="rId24"/>
    <p:sldId id="375" r:id="rId25"/>
    <p:sldId id="376" r:id="rId26"/>
    <p:sldId id="392" r:id="rId27"/>
    <p:sldId id="378" r:id="rId28"/>
    <p:sldId id="379" r:id="rId29"/>
    <p:sldId id="382" r:id="rId30"/>
    <p:sldId id="398" r:id="rId31"/>
    <p:sldId id="383" r:id="rId32"/>
    <p:sldId id="384" r:id="rId33"/>
    <p:sldId id="387" r:id="rId34"/>
    <p:sldId id="388" r:id="rId35"/>
    <p:sldId id="399" r:id="rId36"/>
    <p:sldId id="401" r:id="rId37"/>
    <p:sldId id="404" r:id="rId38"/>
    <p:sldId id="403" r:id="rId3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3CDE1-9CF3-44CC-B0D6-057A29E73B7F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7B677-BDB7-4C23-9F0A-AD8E00198627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7B677-BDB7-4C23-9F0A-AD8E00198627}" type="slidenum">
              <a:rPr lang="tr-TR" smtClean="0"/>
              <a:pPr/>
              <a:t>28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06509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90435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85851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87771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4283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57077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83441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25043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15298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23987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53272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D29D7-D04B-45CB-9B72-FE54070B6349}" type="datetimeFigureOut">
              <a:rPr lang="tr-TR" smtClean="0"/>
              <a:pPr/>
              <a:t>21.09.2020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1D566-7CE4-4804-BFDB-BEDB188594E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75664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Terapötik</a:t>
            </a:r>
            <a:r>
              <a:rPr lang="tr-TR" dirty="0" smtClean="0"/>
              <a:t> görüşme teknikleri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Prof Dr Süheyla Ünal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68327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Kavramlar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Teknik</a:t>
            </a:r>
          </a:p>
          <a:p>
            <a:pPr lvl="1"/>
            <a:r>
              <a:rPr lang="tr-TR" dirty="0" smtClean="0"/>
              <a:t>beceri, yol, yöntem, araç</a:t>
            </a:r>
          </a:p>
          <a:p>
            <a:pPr lvl="1"/>
            <a:r>
              <a:rPr lang="sv-SE" dirty="0" smtClean="0"/>
              <a:t>bir bilim, sanat ya da meslek dalında kullanılan yöntemlerin tümü</a:t>
            </a:r>
            <a:endParaRPr lang="tr-TR" dirty="0" smtClean="0"/>
          </a:p>
          <a:p>
            <a:r>
              <a:rPr lang="tr-TR" dirty="0" smtClean="0"/>
              <a:t>Yöntem</a:t>
            </a:r>
          </a:p>
          <a:p>
            <a:pPr lvl="1"/>
            <a:r>
              <a:rPr lang="tr-TR" dirty="0" smtClean="0"/>
              <a:t>Bir amaca erişmek için izlenen, tutulan yol, usul, sistem, prosedür, politika</a:t>
            </a:r>
          </a:p>
          <a:p>
            <a:pPr lvl="1"/>
            <a:r>
              <a:rPr lang="tr-TR" dirty="0" smtClean="0"/>
              <a:t>Bilimde belli bir sonuca erişmek için bir plana göre izlenen yol, metot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Kavramlar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Beceri</a:t>
            </a:r>
          </a:p>
          <a:p>
            <a:pPr lvl="1"/>
            <a:r>
              <a:rPr lang="tr-TR" dirty="0" smtClean="0"/>
              <a:t>Elinden iş gelme durumu, ustalık, maharet</a:t>
            </a:r>
          </a:p>
          <a:p>
            <a:pPr lvl="1"/>
            <a:r>
              <a:rPr lang="tr-TR" dirty="0" smtClean="0"/>
              <a:t>Kişinin, yatkınlık ve öğrenime bağlı olarak, bir işi başarma, bir işlemi ereğine uygun olarak, gerektiği gibi sonuçlandırma yeteneği</a:t>
            </a:r>
          </a:p>
          <a:p>
            <a:pPr lvl="1"/>
            <a:r>
              <a:rPr lang="tr-TR" dirty="0" smtClean="0"/>
              <a:t>Karmaşık, devimsel eylemleri değişik koşullar altında da yeterlikle yapabilme gücü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İletişim</a:t>
            </a:r>
            <a:endParaRPr lang="tr-T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6837" y="1681956"/>
            <a:ext cx="64103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İletişim</a:t>
            </a:r>
            <a:endParaRPr lang="tr-TR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53830"/>
            <a:ext cx="4038600" cy="2818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İçerik Yer Tutucusu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23336" y="2533081"/>
            <a:ext cx="3088327" cy="26602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tr-TR" dirty="0" smtClean="0"/>
              <a:t>İletişim</a:t>
            </a:r>
            <a:endParaRPr lang="tr-TR" dirty="0"/>
          </a:p>
        </p:txBody>
      </p:sp>
      <p:grpSp>
        <p:nvGrpSpPr>
          <p:cNvPr id="5" name="4 Grup"/>
          <p:cNvGrpSpPr/>
          <p:nvPr/>
        </p:nvGrpSpPr>
        <p:grpSpPr>
          <a:xfrm>
            <a:off x="442407" y="1933983"/>
            <a:ext cx="2903362" cy="2903362"/>
            <a:chOff x="1215601" y="192989"/>
            <a:chExt cx="2903362" cy="2903362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5" name="14 Pasta"/>
            <p:cNvSpPr/>
            <p:nvPr/>
          </p:nvSpPr>
          <p:spPr>
            <a:xfrm>
              <a:off x="1215601" y="192989"/>
              <a:ext cx="2903362" cy="2903362"/>
            </a:xfrm>
            <a:prstGeom prst="pie">
              <a:avLst>
                <a:gd name="adj1" fmla="val 16200000"/>
                <a:gd name="adj2" fmla="val 180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Pasta 4"/>
            <p:cNvSpPr/>
            <p:nvPr/>
          </p:nvSpPr>
          <p:spPr>
            <a:xfrm>
              <a:off x="2745742" y="808225"/>
              <a:ext cx="1036915" cy="86409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900" kern="1200" dirty="0" smtClean="0"/>
                <a:t>%38 Ses Tonu</a:t>
              </a:r>
              <a:endParaRPr lang="tr-TR" sz="1900" kern="1200" dirty="0"/>
            </a:p>
          </p:txBody>
        </p:sp>
      </p:grpSp>
      <p:grpSp>
        <p:nvGrpSpPr>
          <p:cNvPr id="6" name="5 Grup"/>
          <p:cNvGrpSpPr/>
          <p:nvPr/>
        </p:nvGrpSpPr>
        <p:grpSpPr>
          <a:xfrm>
            <a:off x="382611" y="2069350"/>
            <a:ext cx="2903362" cy="2903362"/>
            <a:chOff x="1155805" y="328356"/>
            <a:chExt cx="2903362" cy="2903362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3" name="12 Pasta"/>
            <p:cNvSpPr/>
            <p:nvPr/>
          </p:nvSpPr>
          <p:spPr>
            <a:xfrm>
              <a:off x="1155805" y="328356"/>
              <a:ext cx="2903362" cy="2903362"/>
            </a:xfrm>
            <a:prstGeom prst="pie">
              <a:avLst>
                <a:gd name="adj1" fmla="val 1800000"/>
                <a:gd name="adj2" fmla="val 900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asta 6"/>
            <p:cNvSpPr/>
            <p:nvPr/>
          </p:nvSpPr>
          <p:spPr>
            <a:xfrm>
              <a:off x="1847082" y="2212085"/>
              <a:ext cx="1555372" cy="76040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900" kern="1200" dirty="0" smtClean="0"/>
                <a:t>%7 Kelimelerin anlamı</a:t>
              </a:r>
              <a:endParaRPr lang="tr-TR" sz="1900" kern="1200" dirty="0"/>
            </a:p>
          </p:txBody>
        </p:sp>
      </p:grpSp>
      <p:grpSp>
        <p:nvGrpSpPr>
          <p:cNvPr id="7" name="6 Grup"/>
          <p:cNvGrpSpPr/>
          <p:nvPr/>
        </p:nvGrpSpPr>
        <p:grpSpPr>
          <a:xfrm>
            <a:off x="322816" y="1965658"/>
            <a:ext cx="2903362" cy="2903362"/>
            <a:chOff x="1096010" y="224664"/>
            <a:chExt cx="2903362" cy="2903362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1" name="10 Pasta"/>
            <p:cNvSpPr/>
            <p:nvPr/>
          </p:nvSpPr>
          <p:spPr>
            <a:xfrm>
              <a:off x="1096010" y="224664"/>
              <a:ext cx="2903362" cy="2903362"/>
            </a:xfrm>
            <a:prstGeom prst="pie">
              <a:avLst>
                <a:gd name="adj1" fmla="val 9000000"/>
                <a:gd name="adj2" fmla="val 16200000"/>
              </a:avLst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Pasta 8"/>
            <p:cNvSpPr/>
            <p:nvPr/>
          </p:nvSpPr>
          <p:spPr>
            <a:xfrm>
              <a:off x="1432316" y="839901"/>
              <a:ext cx="1036915" cy="86409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130" tIns="24130" rIns="24130" bIns="2413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900" kern="1200" dirty="0" smtClean="0"/>
                <a:t>%55 Beden Dili</a:t>
              </a:r>
              <a:endParaRPr lang="tr-TR" sz="1900" kern="1200" dirty="0"/>
            </a:p>
          </p:txBody>
        </p:sp>
      </p:grpSp>
      <p:sp>
        <p:nvSpPr>
          <p:cNvPr id="8" name="7 Çember Ok"/>
          <p:cNvSpPr/>
          <p:nvPr/>
        </p:nvSpPr>
        <p:spPr>
          <a:xfrm>
            <a:off x="262914" y="1754251"/>
            <a:ext cx="3262826" cy="3262826"/>
          </a:xfrm>
          <a:prstGeom prst="circularArrow">
            <a:avLst>
              <a:gd name="adj1" fmla="val 5085"/>
              <a:gd name="adj2" fmla="val 327528"/>
              <a:gd name="adj3" fmla="val 1472472"/>
              <a:gd name="adj4" fmla="val 16199432"/>
              <a:gd name="adj5" fmla="val 5932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9" name="8 Çember Ok"/>
          <p:cNvSpPr/>
          <p:nvPr/>
        </p:nvSpPr>
        <p:spPr>
          <a:xfrm>
            <a:off x="202879" y="1889434"/>
            <a:ext cx="3262826" cy="3262826"/>
          </a:xfrm>
          <a:prstGeom prst="circularArrow">
            <a:avLst>
              <a:gd name="adj1" fmla="val 5085"/>
              <a:gd name="adj2" fmla="val 327528"/>
              <a:gd name="adj3" fmla="val 8671970"/>
              <a:gd name="adj4" fmla="val 1800502"/>
              <a:gd name="adj5" fmla="val 5932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0" name="9 Çember Ok"/>
          <p:cNvSpPr/>
          <p:nvPr/>
        </p:nvSpPr>
        <p:spPr>
          <a:xfrm>
            <a:off x="142844" y="1785926"/>
            <a:ext cx="3262826" cy="3262826"/>
          </a:xfrm>
          <a:prstGeom prst="circularArrow">
            <a:avLst>
              <a:gd name="adj1" fmla="val 5085"/>
              <a:gd name="adj2" fmla="val 327528"/>
              <a:gd name="adj3" fmla="val 15873039"/>
              <a:gd name="adj4" fmla="val 9000000"/>
              <a:gd name="adj5" fmla="val 5932"/>
            </a:avLst>
          </a:pr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/>
        </p:style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43372" y="1571612"/>
            <a:ext cx="471490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Başlık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Terapötik</a:t>
            </a:r>
            <a:r>
              <a:rPr kumimoji="0" lang="tr-TR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koşullar</a:t>
            </a:r>
            <a:endParaRPr kumimoji="0" lang="tr-T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3 İçerik Yer Tutucusu"/>
          <p:cNvSpPr txBox="1">
            <a:spLocks/>
          </p:cNvSpPr>
          <p:nvPr/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İlgi ve istek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Gözlem ve izlem (içerik ve süreç)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Saygı, koşulsuz kabul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Duyarlılık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Samimiyet, içtenlik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Sağduyu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Empati ve yakınlık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Olumlu bakış açısı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r-T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86248" y="2071678"/>
            <a:ext cx="4357718" cy="3158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tr-TR" dirty="0" err="1" smtClean="0"/>
              <a:t>Terapötik</a:t>
            </a:r>
            <a:r>
              <a:rPr lang="tr-TR" dirty="0" smtClean="0"/>
              <a:t> koşullar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İşbirlikçi, ahenkli, karşılıklı ve diğerinin bilişsel ve duygusal durumlarına uyum sağlayan</a:t>
            </a:r>
          </a:p>
          <a:p>
            <a:r>
              <a:rPr lang="tr-TR" dirty="0" smtClean="0"/>
              <a:t>Diğerinin varlığına duyarlı, diğerinin "duyulduğunu ve görüldüğünü" hissetmesine olanak veren iletişim ortamı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İletişim becerileri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Etkin dinleme</a:t>
            </a:r>
          </a:p>
          <a:p>
            <a:r>
              <a:rPr lang="tr-TR" dirty="0" smtClean="0"/>
              <a:t>Soru sorma</a:t>
            </a:r>
          </a:p>
          <a:p>
            <a:r>
              <a:rPr lang="tr-TR" dirty="0" smtClean="0"/>
              <a:t>Üzerine düşünme (</a:t>
            </a:r>
            <a:r>
              <a:rPr lang="tr-TR" dirty="0" err="1" smtClean="0"/>
              <a:t>refleksiyon</a:t>
            </a:r>
            <a:r>
              <a:rPr lang="tr-TR" dirty="0" smtClean="0"/>
              <a:t>)</a:t>
            </a:r>
          </a:p>
          <a:p>
            <a:r>
              <a:rPr lang="tr-TR" dirty="0" smtClean="0"/>
              <a:t>Geri bildirimde bulunma</a:t>
            </a:r>
          </a:p>
          <a:p>
            <a:pPr>
              <a:buNone/>
            </a:pPr>
            <a:endParaRPr lang="tr-TR" dirty="0" smtClean="0"/>
          </a:p>
          <a:p>
            <a:endParaRPr lang="tr-TR" dirty="0" smtClean="0"/>
          </a:p>
          <a:p>
            <a:pPr>
              <a:buNone/>
            </a:pPr>
            <a:r>
              <a:rPr lang="tr-TR" dirty="0" smtClean="0"/>
              <a:t>                </a:t>
            </a:r>
            <a:r>
              <a:rPr lang="en-US" dirty="0" smtClean="0"/>
              <a:t>%30 </a:t>
            </a:r>
            <a:r>
              <a:rPr lang="en-US" dirty="0" err="1" smtClean="0"/>
              <a:t>konuşma</a:t>
            </a:r>
            <a:r>
              <a:rPr lang="en-US" dirty="0" smtClean="0"/>
              <a:t>, %70 </a:t>
            </a:r>
            <a:r>
              <a:rPr lang="en-US" dirty="0" err="1" smtClean="0"/>
              <a:t>dinleme</a:t>
            </a:r>
            <a:endParaRPr lang="tr-TR" dirty="0" smtClean="0"/>
          </a:p>
          <a:p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Etkin dinleme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Hastaya odaklanma</a:t>
            </a:r>
          </a:p>
          <a:p>
            <a:r>
              <a:rPr lang="en-US" dirty="0" err="1" smtClean="0"/>
              <a:t>Çeldiricileri</a:t>
            </a:r>
            <a:r>
              <a:rPr lang="en-US" dirty="0" smtClean="0"/>
              <a:t> </a:t>
            </a:r>
            <a:r>
              <a:rPr lang="en-US" dirty="0" err="1" smtClean="0"/>
              <a:t>bertaraf</a:t>
            </a:r>
            <a:r>
              <a:rPr lang="en-US" dirty="0" smtClean="0"/>
              <a:t> </a:t>
            </a:r>
            <a:r>
              <a:rPr lang="en-US" dirty="0" err="1" smtClean="0"/>
              <a:t>etme</a:t>
            </a:r>
            <a:r>
              <a:rPr lang="tr-TR" dirty="0" smtClean="0"/>
              <a:t> </a:t>
            </a:r>
            <a:endParaRPr lang="en-US" dirty="0" smtClean="0"/>
          </a:p>
          <a:p>
            <a:r>
              <a:rPr lang="en-US" dirty="0" err="1" smtClean="0"/>
              <a:t>Dikkatlice</a:t>
            </a:r>
            <a:r>
              <a:rPr lang="en-US" dirty="0" smtClean="0"/>
              <a:t> </a:t>
            </a:r>
            <a:r>
              <a:rPr lang="en-US" dirty="0" err="1" smtClean="0"/>
              <a:t>gözleme</a:t>
            </a:r>
            <a:r>
              <a:rPr lang="en-US" dirty="0" smtClean="0"/>
              <a:t>, </a:t>
            </a:r>
            <a:r>
              <a:rPr lang="en-US" dirty="0" err="1" smtClean="0"/>
              <a:t>izleme</a:t>
            </a:r>
            <a:endParaRPr lang="en-US" dirty="0" smtClean="0"/>
          </a:p>
          <a:p>
            <a:r>
              <a:rPr lang="tr-TR" dirty="0" smtClean="0"/>
              <a:t>Sözel olduğu kadar s</a:t>
            </a:r>
            <a:r>
              <a:rPr lang="en-US" dirty="0" err="1" smtClean="0"/>
              <a:t>özel</a:t>
            </a:r>
            <a:r>
              <a:rPr lang="en-US" dirty="0" smtClean="0"/>
              <a:t> </a:t>
            </a:r>
            <a:r>
              <a:rPr lang="en-US" dirty="0" err="1" smtClean="0"/>
              <a:t>olmayan</a:t>
            </a:r>
            <a:r>
              <a:rPr lang="en-US" dirty="0" smtClean="0"/>
              <a:t> </a:t>
            </a:r>
            <a:r>
              <a:rPr lang="en-US" dirty="0" err="1" smtClean="0"/>
              <a:t>mesajları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algılama</a:t>
            </a:r>
            <a:r>
              <a:rPr lang="en-US" dirty="0" smtClean="0"/>
              <a:t>, </a:t>
            </a:r>
            <a:r>
              <a:rPr lang="en-US" dirty="0" err="1" smtClean="0"/>
              <a:t>değerlendirme</a:t>
            </a:r>
            <a:endParaRPr lang="tr-TR" dirty="0" smtClean="0"/>
          </a:p>
          <a:p>
            <a:r>
              <a:rPr lang="tr-TR" dirty="0" smtClean="0"/>
              <a:t>Duyguları konusunda ipuçlarını değerlendirme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Etkin dinleme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Genellemelerine, çarpıtmalarına, elemelerine dikkat etme</a:t>
            </a:r>
            <a:endParaRPr lang="en-US" dirty="0" smtClean="0"/>
          </a:p>
          <a:p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anlamı</a:t>
            </a:r>
            <a:r>
              <a:rPr lang="en-US" dirty="0" smtClean="0"/>
              <a:t> </a:t>
            </a:r>
            <a:r>
              <a:rPr lang="en-US" dirty="0" err="1" smtClean="0"/>
              <a:t>kavramaya</a:t>
            </a:r>
            <a:r>
              <a:rPr lang="en-US" dirty="0" smtClean="0"/>
              <a:t> </a:t>
            </a:r>
            <a:r>
              <a:rPr lang="en-US" dirty="0" err="1" smtClean="0"/>
              <a:t>çalışma</a:t>
            </a:r>
            <a:endParaRPr lang="en-US" dirty="0" smtClean="0"/>
          </a:p>
          <a:p>
            <a:r>
              <a:rPr lang="en-US" dirty="0" err="1" smtClean="0"/>
              <a:t>Anladığını</a:t>
            </a:r>
            <a:r>
              <a:rPr lang="en-US" dirty="0" smtClean="0"/>
              <a:t> </a:t>
            </a:r>
            <a:r>
              <a:rPr lang="en-US" dirty="0" err="1" smtClean="0"/>
              <a:t>ifade</a:t>
            </a:r>
            <a:r>
              <a:rPr lang="en-US" dirty="0" smtClean="0"/>
              <a:t> </a:t>
            </a:r>
            <a:r>
              <a:rPr lang="en-US" dirty="0" err="1" smtClean="0"/>
              <a:t>etme</a:t>
            </a:r>
            <a:r>
              <a:rPr lang="en-US" dirty="0" smtClean="0"/>
              <a:t>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sorma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Z</a:t>
            </a:r>
            <a:r>
              <a:rPr lang="en-US" dirty="0" err="1" smtClean="0"/>
              <a:t>ihnimizin</a:t>
            </a:r>
            <a:r>
              <a:rPr lang="en-US" dirty="0" smtClean="0"/>
              <a:t> </a:t>
            </a:r>
            <a:r>
              <a:rPr lang="en-US" dirty="0" err="1" smtClean="0"/>
              <a:t>belirli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algoritmik</a:t>
            </a:r>
            <a:r>
              <a:rPr lang="en-US" dirty="0" smtClean="0"/>
              <a:t> </a:t>
            </a:r>
            <a:r>
              <a:rPr lang="en-US" dirty="0" err="1" smtClean="0"/>
              <a:t>düzen</a:t>
            </a:r>
            <a:r>
              <a:rPr lang="en-US" dirty="0" smtClean="0"/>
              <a:t> </a:t>
            </a:r>
            <a:r>
              <a:rPr lang="en-US" dirty="0" err="1" smtClean="0"/>
              <a:t>içerisinde</a:t>
            </a:r>
            <a:r>
              <a:rPr lang="en-US" dirty="0" smtClean="0"/>
              <a:t> </a:t>
            </a:r>
            <a:r>
              <a:rPr lang="en-US" dirty="0" err="1" smtClean="0"/>
              <a:t>sistematik</a:t>
            </a:r>
            <a:r>
              <a:rPr lang="en-US" dirty="0" smtClean="0"/>
              <a:t> </a:t>
            </a:r>
            <a:r>
              <a:rPr lang="en-US" dirty="0" err="1" smtClean="0"/>
              <a:t>olarak</a:t>
            </a:r>
            <a:r>
              <a:rPr lang="en-US" dirty="0" smtClean="0"/>
              <a:t> </a:t>
            </a:r>
            <a:r>
              <a:rPr lang="en-US" dirty="0" err="1" smtClean="0"/>
              <a:t>düşünmesini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kendimizi</a:t>
            </a:r>
            <a:r>
              <a:rPr lang="en-US" dirty="0" smtClean="0"/>
              <a:t> </a:t>
            </a:r>
            <a:r>
              <a:rPr lang="en-US" dirty="0" err="1" smtClean="0"/>
              <a:t>ifade</a:t>
            </a:r>
            <a:r>
              <a:rPr lang="en-US" dirty="0" smtClean="0"/>
              <a:t> </a:t>
            </a:r>
            <a:r>
              <a:rPr lang="en-US" dirty="0" err="1" smtClean="0"/>
              <a:t>etmemizi</a:t>
            </a:r>
            <a:r>
              <a:rPr lang="en-US" dirty="0" smtClean="0"/>
              <a:t> </a:t>
            </a:r>
            <a:r>
              <a:rPr lang="en-US" dirty="0" err="1" smtClean="0"/>
              <a:t>sağla</a:t>
            </a:r>
            <a:r>
              <a:rPr lang="tr-TR" dirty="0" smtClean="0"/>
              <a:t>r</a:t>
            </a:r>
            <a:r>
              <a:rPr lang="en-US" dirty="0" smtClean="0"/>
              <a:t> </a:t>
            </a:r>
            <a:endParaRPr lang="tr-TR" dirty="0" smtClean="0"/>
          </a:p>
          <a:p>
            <a:r>
              <a:rPr lang="tr-TR" dirty="0" smtClean="0"/>
              <a:t>Psikoterapi, diyaloglar üzerine kurulu bir yöntem olarak akıl yürütmede doğru soruları sorarak doğru sonuca varma sürecidir</a:t>
            </a:r>
          </a:p>
          <a:p>
            <a:r>
              <a:rPr lang="tr-TR" dirty="0" smtClean="0"/>
              <a:t>Amacına göre</a:t>
            </a:r>
          </a:p>
          <a:p>
            <a:pPr lvl="1"/>
            <a:r>
              <a:rPr lang="tr-TR" dirty="0" smtClean="0"/>
              <a:t>Tanı koydurmaya yönelik </a:t>
            </a:r>
          </a:p>
          <a:p>
            <a:pPr lvl="1"/>
            <a:r>
              <a:rPr lang="tr-TR" dirty="0" smtClean="0"/>
              <a:t>Tedaviye yönelik</a:t>
            </a:r>
          </a:p>
          <a:p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Üzerine düşünme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Hastanın ne düşündüğünü ve hissettiğini onun referans çerçevesinden anlamaya çalışması</a:t>
            </a:r>
          </a:p>
          <a:p>
            <a:r>
              <a:rPr lang="tr-TR" dirty="0" smtClean="0"/>
              <a:t>Yeniden inşa ederek bu anlayışı hastaya geri aktarması  </a:t>
            </a:r>
            <a:endParaRPr lang="tr-T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altLang="tr-TR" dirty="0" smtClean="0"/>
              <a:t>Geribildirimde bulunma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Bireyin başkaları ile ilgili duygularını, düşüncelerini ve ondan ne şekilde etkilendiğini ona geri bildirmesi </a:t>
            </a:r>
          </a:p>
          <a:p>
            <a:r>
              <a:rPr lang="tr-TR" altLang="tr-TR" dirty="0" smtClean="0"/>
              <a:t>Bireye davranışlarının başkaları üzerindeki etkisi hakkında bilgi verir, güven verici ve açık ilişkileri geliştirir</a:t>
            </a: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Terapötik</a:t>
            </a:r>
            <a:r>
              <a:rPr lang="tr-TR" dirty="0" smtClean="0"/>
              <a:t> süreç</a:t>
            </a:r>
            <a:endParaRPr lang="tr-TR" dirty="0"/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Bağ kurma</a:t>
            </a:r>
          </a:p>
          <a:p>
            <a:r>
              <a:rPr lang="tr-TR" dirty="0" smtClean="0"/>
              <a:t>Keşfetme</a:t>
            </a:r>
          </a:p>
          <a:p>
            <a:r>
              <a:rPr lang="tr-TR" dirty="0" smtClean="0"/>
              <a:t>Açıklama</a:t>
            </a:r>
          </a:p>
          <a:p>
            <a:r>
              <a:rPr lang="tr-TR" dirty="0" smtClean="0"/>
              <a:t>Müdahale etme                </a:t>
            </a:r>
          </a:p>
          <a:p>
            <a:pPr>
              <a:buNone/>
            </a:pPr>
            <a:r>
              <a:rPr lang="tr-TR" sz="2000" dirty="0" smtClean="0"/>
              <a:t>                                        </a:t>
            </a:r>
            <a:r>
              <a:rPr lang="en-US" sz="2000" dirty="0" smtClean="0"/>
              <a:t>(</a:t>
            </a:r>
            <a:r>
              <a:rPr lang="en-US" sz="2000" dirty="0" err="1" smtClean="0"/>
              <a:t>Yager</a:t>
            </a:r>
            <a:r>
              <a:rPr lang="en-US" sz="2000" dirty="0" smtClean="0"/>
              <a:t> &amp; Feinstein, 2017)</a:t>
            </a:r>
            <a:endParaRPr lang="tr-TR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Bağ kurma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Açık ve hafif öne eğik duruş, ilgili göz teması</a:t>
            </a:r>
            <a:endParaRPr lang="tr-TR" altLang="tr-TR" dirty="0" smtClean="0"/>
          </a:p>
          <a:p>
            <a:r>
              <a:rPr lang="tr-TR" altLang="tr-TR" dirty="0" smtClean="0"/>
              <a:t>Yakından İlgilenme</a:t>
            </a:r>
          </a:p>
          <a:p>
            <a:pPr lvl="1"/>
            <a:r>
              <a:rPr lang="tr-TR" altLang="tr-TR" dirty="0" smtClean="0"/>
              <a:t>Hastanın güvenini artırmak ve güvenli bir ortam oluşturmak için ona saygı duyulduğunu ve söylediklerine önem verildiğini ileten bir davranış sergileme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dirty="0" smtClean="0"/>
              <a:t>Uygun mesafe, uygun sınır</a:t>
            </a:r>
            <a:endParaRPr lang="tr-TR" altLang="tr-TR" sz="32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tr-TR" altLang="tr-TR" sz="3200" dirty="0" smtClean="0"/>
              <a:t>Yapılandırma</a:t>
            </a:r>
          </a:p>
          <a:p>
            <a:pPr marL="742950" lvl="2" indent="-342900"/>
            <a:r>
              <a:rPr lang="tr-TR" altLang="tr-TR" sz="2800" dirty="0" smtClean="0"/>
              <a:t>Terapi kuralları hakkında bilgi verme</a:t>
            </a:r>
          </a:p>
          <a:p>
            <a:pPr marL="742950" lvl="2" indent="-342900"/>
            <a:r>
              <a:rPr lang="tr-TR" altLang="tr-TR" sz="2800" dirty="0" smtClean="0"/>
              <a:t>Terapi sözleşmesi    </a:t>
            </a: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Keşfetme</a:t>
            </a:r>
            <a:endParaRPr lang="tr-TR" dirty="0"/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Düşünce akışını/çağrışımlarını görmek için serbestçe konuşmasına izin verin</a:t>
            </a:r>
          </a:p>
          <a:p>
            <a:pPr lvl="1"/>
            <a:r>
              <a:rPr lang="tr-TR" dirty="0" smtClean="0"/>
              <a:t>Siz soruşturmadan hasta kendiliğinden konuyla ilgili neler anlatacaktır</a:t>
            </a:r>
          </a:p>
          <a:p>
            <a:pPr lvl="1"/>
            <a:r>
              <a:rPr lang="tr-TR" dirty="0" smtClean="0"/>
              <a:t>Hastanın önemli bulduğu ve konuyla ilgili gördüğü şeyler nelerdir</a:t>
            </a:r>
          </a:p>
          <a:p>
            <a:pPr lvl="1"/>
            <a:endParaRPr lang="tr-TR" dirty="0" smtClean="0"/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Konuşmaya açık davet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Hastanın kendisini daha iyi anlatabilmesi amacıyla açık uçlu sorular sorma </a:t>
            </a:r>
          </a:p>
          <a:p>
            <a:pPr lvl="1"/>
            <a:r>
              <a:rPr lang="tr-TR" altLang="tr-TR" dirty="0" smtClean="0"/>
              <a:t>O konuyu biraz daha açıklar mısın?</a:t>
            </a:r>
          </a:p>
          <a:p>
            <a:pPr lvl="1"/>
            <a:r>
              <a:rPr lang="tr-TR" altLang="tr-TR" dirty="0" smtClean="0"/>
              <a:t>O anda ne hissetin? Şimdi ne hissediyorsun?</a:t>
            </a:r>
            <a:endParaRPr lang="tr-TR" altLang="tr-TR" b="1" dirty="0" smtClean="0"/>
          </a:p>
          <a:p>
            <a:pPr lvl="1"/>
            <a:r>
              <a:rPr lang="tr-TR" altLang="tr-TR" dirty="0" smtClean="0"/>
              <a:t>Bana bir örnek verir misin? </a:t>
            </a:r>
          </a:p>
          <a:p>
            <a:pPr lvl="1"/>
            <a:r>
              <a:rPr lang="tr-TR" altLang="tr-TR" dirty="0" smtClean="0"/>
              <a:t>Depresyondayım demekle neyi kastediyorsun?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altLang="tr-TR" dirty="0" smtClean="0"/>
              <a:t>Asgari Düzeyde Teşvik </a:t>
            </a:r>
            <a:endParaRPr lang="tr-TR" dirty="0"/>
          </a:p>
        </p:txBody>
      </p:sp>
      <p:sp>
        <p:nvSpPr>
          <p:cNvPr id="4" name="3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Konuşmanın devamını sağlamak üzere</a:t>
            </a:r>
          </a:p>
          <a:p>
            <a:pPr lvl="1"/>
            <a:r>
              <a:rPr lang="tr-TR" altLang="tr-TR" dirty="0" smtClean="0"/>
              <a:t>Anahtar sözcüklerin tekrarı</a:t>
            </a:r>
          </a:p>
          <a:p>
            <a:pPr lvl="1"/>
            <a:r>
              <a:rPr lang="tr-TR" altLang="tr-TR" dirty="0" smtClean="0"/>
              <a:t>Bazı ifadelerin tekrarı (</a:t>
            </a:r>
            <a:r>
              <a:rPr lang="tr-TR" altLang="tr-TR" dirty="0" err="1" smtClean="0"/>
              <a:t>aynalama</a:t>
            </a:r>
            <a:r>
              <a:rPr lang="tr-TR" altLang="tr-TR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tr-TR" altLang="tr-TR" dirty="0" smtClean="0"/>
              <a:t>Tek sözcüklü </a:t>
            </a:r>
            <a:r>
              <a:rPr lang="tr-TR" altLang="tr-TR" dirty="0" err="1" smtClean="0"/>
              <a:t>pekiştireç</a:t>
            </a:r>
            <a:r>
              <a:rPr lang="tr-TR" altLang="tr-TR" dirty="0" smtClean="0"/>
              <a:t> (</a:t>
            </a:r>
            <a:r>
              <a:rPr lang="tr-TR" altLang="tr-TR" dirty="0" err="1" smtClean="0"/>
              <a:t>Hımm</a:t>
            </a:r>
            <a:r>
              <a:rPr lang="tr-TR" altLang="tr-TR" dirty="0" smtClean="0"/>
              <a:t>, evet, …) </a:t>
            </a:r>
          </a:p>
          <a:p>
            <a:pPr lvl="1">
              <a:lnSpc>
                <a:spcPct val="90000"/>
              </a:lnSpc>
            </a:pPr>
            <a:r>
              <a:rPr lang="tr-TR" altLang="tr-TR" dirty="0" smtClean="0"/>
              <a:t>Kısa cümleler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Kolaylaştırma-Kapı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açıcı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sorular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 sonra ne oldu?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 sonra ne yaptınız?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Anlıyorum…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Bu sorunla nasıl başa çıktınız?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Bu durumda size ne yardım etti?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Biraz daha anlatır mısınız?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defTabSz="457200" eaLnBrk="0" hangingPunct="0"/>
            <a:r>
              <a:rPr lang="en-US" sz="4400">
                <a:latin typeface="Calibri" pitchFamily="34" charset="0"/>
              </a:rPr>
              <a:t>Soru sorma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/>
          <a:lstStyle/>
          <a:p>
            <a:pPr defTabSz="457200" eaLnBrk="0" hangingPunct="0">
              <a:buFont typeface="Arial" pitchFamily="34" charset="0"/>
              <a:buChar char="•"/>
            </a:pPr>
            <a:r>
              <a:rPr lang="tr-TR" sz="3200" dirty="0">
                <a:latin typeface="Calibri" pitchFamily="34" charset="0"/>
              </a:rPr>
              <a:t>Açık - kapalı uçlu </a:t>
            </a:r>
            <a:r>
              <a:rPr lang="tr-TR" sz="3200" dirty="0" smtClean="0">
                <a:latin typeface="Calibri" pitchFamily="34" charset="0"/>
              </a:rPr>
              <a:t>sorular</a:t>
            </a:r>
            <a:endParaRPr lang="tr-TR" sz="3200" dirty="0">
              <a:latin typeface="Calibri" pitchFamily="34" charset="0"/>
            </a:endParaRPr>
          </a:p>
          <a:p>
            <a:pPr defTabSz="457200" eaLnBrk="0" hangingPunct="0">
              <a:buFont typeface="Arial" pitchFamily="34" charset="0"/>
              <a:buNone/>
            </a:pPr>
            <a:endParaRPr lang="tr-TR" sz="3200" dirty="0">
              <a:latin typeface="Calibri" pitchFamily="34" charset="0"/>
            </a:endParaRPr>
          </a:p>
          <a:p>
            <a:pPr algn="ctr" defTabSz="457200" eaLnBrk="0" hangingPunct="0">
              <a:buFont typeface="Arial" pitchFamily="34" charset="0"/>
              <a:buNone/>
            </a:pPr>
            <a:r>
              <a:rPr lang="tr-TR" sz="3200" dirty="0">
                <a:latin typeface="Calibri" pitchFamily="34" charset="0"/>
              </a:rPr>
              <a:t>geniş, açık-uçlu sorular</a:t>
            </a:r>
          </a:p>
          <a:p>
            <a:pPr algn="ctr" defTabSz="457200" eaLnBrk="0" hangingPunct="0">
              <a:buFont typeface="Arial" pitchFamily="34" charset="0"/>
              <a:buNone/>
            </a:pPr>
            <a:r>
              <a:rPr lang="tr-TR" sz="3200" dirty="0">
                <a:latin typeface="Calibri" pitchFamily="34" charset="0"/>
                <a:cs typeface="Arial" pitchFamily="34" charset="0"/>
              </a:rPr>
              <a:t>↓</a:t>
            </a:r>
            <a:r>
              <a:rPr lang="tr-TR" sz="3200" dirty="0">
                <a:latin typeface="Calibri" pitchFamily="34" charset="0"/>
              </a:rPr>
              <a:t> </a:t>
            </a:r>
          </a:p>
          <a:p>
            <a:pPr algn="ctr" defTabSz="457200" eaLnBrk="0" hangingPunct="0">
              <a:buFont typeface="Arial" pitchFamily="34" charset="0"/>
              <a:buNone/>
            </a:pPr>
            <a:r>
              <a:rPr lang="tr-TR" sz="3200" dirty="0">
                <a:latin typeface="Calibri" pitchFamily="34" charset="0"/>
              </a:rPr>
              <a:t>özgül sorular </a:t>
            </a:r>
          </a:p>
          <a:p>
            <a:pPr algn="ctr" defTabSz="457200" eaLnBrk="0" hangingPunct="0">
              <a:buFont typeface="Arial" pitchFamily="34" charset="0"/>
              <a:buNone/>
            </a:pPr>
            <a:r>
              <a:rPr lang="tr-TR" sz="3200" dirty="0">
                <a:latin typeface="Calibri" pitchFamily="34" charset="0"/>
                <a:cs typeface="Arial" pitchFamily="34" charset="0"/>
              </a:rPr>
              <a:t>↓</a:t>
            </a:r>
          </a:p>
          <a:p>
            <a:pPr algn="ctr" defTabSz="457200" eaLnBrk="0" hangingPunct="0">
              <a:buFont typeface="Arial" pitchFamily="34" charset="0"/>
              <a:buNone/>
            </a:pPr>
            <a:r>
              <a:rPr lang="tr-TR" sz="3200" dirty="0">
                <a:latin typeface="Calibri" pitchFamily="34" charset="0"/>
              </a:rPr>
              <a:t>ayrıntılı, yönlendirici sorular </a:t>
            </a:r>
          </a:p>
          <a:p>
            <a:pPr defTabSz="457200" eaLnBrk="0" hangingPunct="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Açık uçlu sorular </a:t>
            </a:r>
            <a:endParaRPr kumimoji="0" lang="en-US" sz="4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 ve nasılla başlayıp, daha fazla bilgi vermeye yönlendirir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Nasıl hissettin?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Daha sonra ne yaptın?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Eşinizle ilişkilerinizden söz eder misiniz?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Kapalı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uçlu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sorular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Evet</a:t>
            </a:r>
            <a:r>
              <a:rPr kumimoji="0" lang="tr-TR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 da </a:t>
            </a:r>
            <a:r>
              <a:rPr kumimoji="0" lang="tr-TR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hayır</a:t>
            </a:r>
            <a:r>
              <a:rPr kumimoji="0" lang="tr-TR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şeklinde veya bir iki sözcük ile yanıt verilebilen sorulardır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Konuşmayı başlatmada kolaylık sağlayabilir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Çok ayrıntılı konuşanın bir noktaya odaklanmasını sağlayabilir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Kaygılı kişilerin kaygısını yatıştırabilir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Konuşmaya bir yön kazandırır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 smtClean="0"/>
              <a:t>Kapalı</a:t>
            </a:r>
            <a:r>
              <a:rPr lang="en-US" dirty="0" smtClean="0"/>
              <a:t> </a:t>
            </a:r>
            <a:r>
              <a:rPr lang="en-US" dirty="0" err="1" smtClean="0"/>
              <a:t>uçlu</a:t>
            </a:r>
            <a:r>
              <a:rPr lang="en-US" dirty="0" smtClean="0"/>
              <a:t> </a:t>
            </a:r>
            <a:r>
              <a:rPr lang="en-US" dirty="0" err="1" smtClean="0"/>
              <a:t>sorular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Sorular mutlak tanımlarla değil, derece belirleyen verilerle sorulduğunda daha çok bilgi alınır</a:t>
            </a:r>
          </a:p>
          <a:p>
            <a:pPr lvl="1"/>
            <a:r>
              <a:rPr lang="tr-TR" dirty="0" smtClean="0"/>
              <a:t>Yemeyle ilgili bir güçlüğünüz var mı?</a:t>
            </a:r>
          </a:p>
          <a:p>
            <a:pPr lvl="1"/>
            <a:r>
              <a:rPr lang="tr-TR" dirty="0" smtClean="0"/>
              <a:t>Hangi yiyecekleri yiyebiliyorsunuz?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Başlık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Çoğul sorular</a:t>
            </a:r>
            <a:endParaRPr kumimoji="0" lang="tr-T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2 İçerik Yer Tutucusu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Sessiz hastanın 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Sorumluluk almasını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Serbestçe konuşmaya yüreklendirilmsi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Kısa yanıtların önlenmesi için kullanılır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Ancak h</a:t>
            </a:r>
            <a:r>
              <a:rPr kumimoji="0" lang="tr-T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asta kendini;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Aceleye getirilmiş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Lafı ağzına tıkanmış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Şaşkınlığa uğramış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Sıkıştırılmış hissedebilir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tr-TR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Anlamlı bilgi vermesi zorlaşır</a:t>
            </a:r>
            <a:endParaRPr kumimoji="0" lang="tr-T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Uygun olmayan soru tarzları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Yanlı</a:t>
            </a:r>
          </a:p>
          <a:p>
            <a:pPr lvl="1"/>
            <a:r>
              <a:rPr lang="tr-TR" dirty="0" smtClean="0"/>
              <a:t>Boşanmayı düşünmedin mi?</a:t>
            </a:r>
          </a:p>
          <a:p>
            <a:r>
              <a:rPr lang="tr-TR" dirty="0" smtClean="0"/>
              <a:t>Yüklü</a:t>
            </a:r>
          </a:p>
          <a:p>
            <a:pPr lvl="1"/>
            <a:r>
              <a:rPr lang="tr-TR" dirty="0" smtClean="0"/>
              <a:t>Başın da ağrıyor mu?</a:t>
            </a:r>
          </a:p>
          <a:p>
            <a:r>
              <a:rPr lang="tr-TR" dirty="0" smtClean="0"/>
              <a:t>Yargılı</a:t>
            </a:r>
          </a:p>
          <a:p>
            <a:pPr lvl="1"/>
            <a:r>
              <a:rPr lang="tr-TR" dirty="0" smtClean="0"/>
              <a:t>(boşanmak üzere olan hastaya) “çocukların neler yaşayacağını düşünmedin mi?</a:t>
            </a:r>
          </a:p>
          <a:p>
            <a:r>
              <a:rPr lang="tr-TR" dirty="0" smtClean="0"/>
              <a:t>İma edici sorular </a:t>
            </a:r>
          </a:p>
          <a:p>
            <a:pPr lvl="1">
              <a:buNone/>
            </a:pPr>
            <a:endParaRPr lang="tr-TR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İçerik yansıtma 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tr-TR" sz="3200" dirty="0" smtClean="0"/>
              <a:t>Hastanın konuşmasının içeriğini farklı sözcük ve tanımlamalarla veya özetleyerek </a:t>
            </a: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yansıtma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 son söyleneni, etkileşim sırasındaki çeşitli ifadelerini veya tüm iletişimi özetleme şeklinde olabilir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tr-TR" sz="2400" dirty="0" smtClean="0"/>
              <a:t>Dün sabah yataktan kalkıp, hazırlanmak, evden çıkmak zor geldi. Evin içinde dolanıp durdum. Hızlanıp, çıkmam gerektiğini biliyordum ama bir türlü yapamadım.  </a:t>
            </a:r>
            <a:endParaRPr lang="en-US" sz="2400" dirty="0" smtClean="0"/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tr-TR" sz="2400" dirty="0" smtClean="0"/>
              <a:t>Sabah yataktan kalkıp işe gitmekle ilgili bir sorun yaşıyor gibisiniz.</a:t>
            </a:r>
            <a:r>
              <a:rPr lang="tr-TR" sz="2400" b="1" dirty="0" smtClean="0"/>
              <a:t> </a:t>
            </a:r>
            <a:endParaRPr lang="tr-TR" sz="2400" dirty="0" smtClean="0"/>
          </a:p>
          <a:p>
            <a:pPr marL="800100" lvl="1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23850" y="26035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Duygu yansıtma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Hastanın henüz adını koymadığı bir duygusunun yansıtılmasıdır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</a:t>
            </a:r>
            <a:r>
              <a:rPr kumimoji="0" lang="tr-TR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söylendiği değil </a:t>
            </a:r>
            <a:r>
              <a:rPr kumimoji="0" lang="tr-TR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nasıl</a:t>
            </a:r>
            <a:r>
              <a:rPr kumimoji="0" lang="tr-TR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tr-TR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söylendiği</a:t>
            </a:r>
            <a:r>
              <a:rPr kumimoji="0" lang="tr-TR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tr-TR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</a:t>
            </a:r>
            <a:r>
              <a:rPr kumimoji="0" lang="tr-T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bakılarak, satır araları okunarak anlaşılır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2800" dirty="0" smtClean="0"/>
              <a:t>Önce ifade edilen duygu belirlenmeli, sonra belirlenen duygu geçici bir giriş ifadesiyle cümleye dönüştürülmelidir</a:t>
            </a:r>
            <a:endParaRPr lang="tr-TR" sz="3600" dirty="0" smtClean="0"/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tr-TR" dirty="0" smtClean="0"/>
              <a:t>...........................hissediyorsun.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tr-TR" dirty="0" smtClean="0"/>
              <a:t>Belki de.......................... </a:t>
            </a:r>
            <a:r>
              <a:rPr lang="en-US" dirty="0" smtClean="0"/>
              <a:t>h</a:t>
            </a:r>
            <a:r>
              <a:rPr lang="tr-TR" dirty="0" err="1" smtClean="0"/>
              <a:t>issediyorsun</a:t>
            </a:r>
            <a:r>
              <a:rPr lang="tr-TR" dirty="0" smtClean="0"/>
              <a:t>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tr-TR" dirty="0" smtClean="0"/>
              <a:t>Sanki ...................hissediyorsun, çünkü.........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tr-TR" dirty="0" smtClean="0"/>
              <a:t>...........................  görünüyorsun.</a:t>
            </a:r>
            <a:endParaRPr lang="en-US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Sessizli</a:t>
            </a:r>
            <a:r>
              <a:rPr kumimoji="0" lang="tr-TR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ği</a:t>
            </a:r>
            <a:r>
              <a:rPr kumimoji="0" lang="tr-TR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kullanma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Hastanın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konuşulanlar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üzerinde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düşünmesini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sağlar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Hastanın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odaklanmasını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sağlar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Kaygıyı arttırarak </a:t>
            </a:r>
            <a:r>
              <a:rPr lang="tr-TR" sz="3200" dirty="0" smtClean="0"/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onuşmaya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yönlendirir</a:t>
            </a:r>
            <a:endParaRPr kumimoji="0" lang="tr-T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İçerik Yer Tutucusu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alt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Olaylar,yaşantılar, duygular veya kişileri birbirine bağlama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alt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Geçmiş yaşantılarla şu andaki davranışlar arasında bağ kurma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r-T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tr-TR" altLang="tr-TR" dirty="0" err="1" smtClean="0"/>
              <a:t>Bağlantılandırma</a:t>
            </a:r>
            <a:r>
              <a:rPr lang="tr-TR" altLang="tr-TR" dirty="0" smtClean="0"/>
              <a:t> </a:t>
            </a:r>
            <a:endParaRPr lang="tr-T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Yüzleştirme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Sözel bir saldırı değil, bir tür sarsma şeklinde olmalıdır (içgörü kazandırarak değişime yönlendirme)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Yüksek düzeyde empatiden sonra yapılmalıdır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Hastanın kendine zarar verici düşünce ve davranış tarzlarını ve sonuçlarını örneklerle ortaya koymak önemlidir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defTabSz="457200" eaLnBrk="0" hangingPunct="0"/>
            <a:r>
              <a:rPr lang="en-US" sz="4400">
                <a:latin typeface="Calibri" pitchFamily="34" charset="0"/>
              </a:rPr>
              <a:t>Yeniden çerçevelendirme</a:t>
            </a: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684213" y="1600200"/>
            <a:ext cx="754538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Hastaya yeni bir bakış açısı kazandıracak şekilde sorunu yeniden tanımlamak, farklı bir bakış açısı geliştirmesini sağlamak gerekir.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Özetleme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3200" dirty="0" smtClean="0"/>
              <a:t>Hastanın söylediği ve hissettiği şeyin özünü belirginleştirerek temel temaları özetleme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3200" dirty="0" smtClean="0"/>
              <a:t>Hastanın düşüncelerini bir noktaya toplamasını sağlama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3200" dirty="0" smtClean="0"/>
              <a:t>Amacı gözden kaçırmamayı sağlama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tr-TR" sz="28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Kendini açma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Kişisel bilgilerini (nereli olduğu, evli olup olmadığı..) hastanın yararına olacak şekilde anlatma (hastanın rahat olmasını sağlamak için)</a:t>
            </a:r>
          </a:p>
          <a:p>
            <a:r>
              <a:rPr lang="tr-TR" dirty="0" smtClean="0"/>
              <a:t>Terapist kendini ifşa etmenin gerekli olmadığına karar verse bile, hastayı bu soruyu sorduğu için utandırmamaya dikkat etmelidir</a:t>
            </a:r>
          </a:p>
          <a:p>
            <a:r>
              <a:rPr lang="tr-TR" dirty="0" smtClean="0"/>
              <a:t>Hastanın terapistin bir çözümünü model almasının istendiği durumda </a:t>
            </a:r>
          </a:p>
          <a:p>
            <a:endParaRPr lang="tr-TR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Yorumlama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Terapistin gözlemlerine ve anlayışına dayalı olarak bir hastanın davranışlarına anlam verme girişimi</a:t>
            </a:r>
          </a:p>
          <a:p>
            <a:r>
              <a:rPr lang="tr-TR" dirty="0" smtClean="0"/>
              <a:t>Hastanın </a:t>
            </a:r>
            <a:r>
              <a:rPr lang="tr-TR" dirty="0" err="1" smtClean="0"/>
              <a:t>farkındalığını</a:t>
            </a:r>
            <a:r>
              <a:rPr lang="tr-TR" dirty="0" smtClean="0"/>
              <a:t> veya </a:t>
            </a:r>
            <a:r>
              <a:rPr lang="tr-TR" dirty="0" err="1" smtClean="0"/>
              <a:t>içgörüsünü</a:t>
            </a:r>
            <a:r>
              <a:rPr lang="tr-TR" dirty="0" smtClean="0"/>
              <a:t> artırmaya ve hastanın göremeyebileceği karşılıklı ilişkileri netleştirmeye yardımcı</a:t>
            </a:r>
          </a:p>
          <a:p>
            <a:endParaRPr lang="tr-TR" dirty="0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Konu değiştirme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Hastanın az önce söylediği bir şeyi işaret etmek için  </a:t>
            </a:r>
          </a:p>
          <a:p>
            <a:r>
              <a:rPr lang="tr-TR" dirty="0" smtClean="0"/>
              <a:t>Daha önce söylenen bir şeyi işaret etmek için</a:t>
            </a:r>
          </a:p>
          <a:p>
            <a:r>
              <a:rPr lang="tr-TR" dirty="0" smtClean="0"/>
              <a:t>Yeni bir konuya giriş yapmak için  uygulanır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Öneri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Hastaya</a:t>
            </a:r>
            <a:r>
              <a:rPr kumimoji="0" lang="tr-TR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seçenek davranışı gösteren bir tepkidir. Sorununu çözebilecek eylem planlarından oluşur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Tavsiye bazen düşünce, bazen eylem şeklinde olabilir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Tavsiyede bulunmadan önce hastanın</a:t>
            </a:r>
            <a:r>
              <a:rPr kumimoji="0" lang="tr-TR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daha önce neleri denediğini belirlemek gerekir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Tavsiyeye </a:t>
            </a:r>
            <a:r>
              <a:rPr kumimoji="0" lang="tr-T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Evet, ama ....</a:t>
            </a:r>
            <a:r>
              <a:rPr kumimoji="0" lang="tr-TR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tepkisi gelirse tavsiye erken verilmiştir ya da terapist</a:t>
            </a:r>
            <a:r>
              <a:rPr kumimoji="0" lang="tr-TR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tr-T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sorunu iyi anlamamıştır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Terapist gereken </a:t>
            </a:r>
            <a:r>
              <a:rPr lang="tr-TR" dirty="0" smtClean="0"/>
              <a:t>yerde gerekli becerileri </a:t>
            </a:r>
            <a:r>
              <a:rPr lang="tr-TR" dirty="0" smtClean="0"/>
              <a:t>kendiliğinden, mekanik olmayan bir şekilde kullanabilmelidir</a:t>
            </a:r>
            <a:endParaRPr lang="tr-TR" dirty="0" smtClean="0"/>
          </a:p>
          <a:p>
            <a:r>
              <a:rPr lang="tr-TR" dirty="0" smtClean="0"/>
              <a:t>Terapist kendi kişisel </a:t>
            </a:r>
            <a:r>
              <a:rPr lang="tr-TR" dirty="0" smtClean="0"/>
              <a:t>ihtiyaçlarının ve motivasyonunun rolünün farkında </a:t>
            </a:r>
            <a:r>
              <a:rPr lang="tr-TR" dirty="0" smtClean="0"/>
              <a:t>olmalı, kendi yararına değil hastanın yararına bir süreç yürütmelidir</a:t>
            </a: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1115</Words>
  <Application>Microsoft Office PowerPoint</Application>
  <PresentationFormat>Ekran Gösterisi (4:3)</PresentationFormat>
  <Paragraphs>195</Paragraphs>
  <Slides>38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39" baseType="lpstr">
      <vt:lpstr>Ofis Teması</vt:lpstr>
      <vt:lpstr>Terapötik görüşme teknikleri</vt:lpstr>
      <vt:lpstr>Kavramlar</vt:lpstr>
      <vt:lpstr>Kavramlar</vt:lpstr>
      <vt:lpstr>İletişim</vt:lpstr>
      <vt:lpstr>İletişim</vt:lpstr>
      <vt:lpstr>İletişim</vt:lpstr>
      <vt:lpstr>Slayt 7</vt:lpstr>
      <vt:lpstr>Terapötik koşullar</vt:lpstr>
      <vt:lpstr>İletişim becerileri</vt:lpstr>
      <vt:lpstr>Etkin dinleme</vt:lpstr>
      <vt:lpstr>Etkin dinleme</vt:lpstr>
      <vt:lpstr>Soru sorma</vt:lpstr>
      <vt:lpstr>Üzerine düşünme</vt:lpstr>
      <vt:lpstr>Geribildirimde bulunma</vt:lpstr>
      <vt:lpstr>Terapötik süreç</vt:lpstr>
      <vt:lpstr>Bağ kurma</vt:lpstr>
      <vt:lpstr>Keşfetme</vt:lpstr>
      <vt:lpstr>Konuşmaya açık davet</vt:lpstr>
      <vt:lpstr>Asgari Düzeyde Teşvik </vt:lpstr>
      <vt:lpstr>Slayt 20</vt:lpstr>
      <vt:lpstr>Slayt 21</vt:lpstr>
      <vt:lpstr>Slayt 22</vt:lpstr>
      <vt:lpstr>Slayt 23</vt:lpstr>
      <vt:lpstr>Kapalı uçlu sorular</vt:lpstr>
      <vt:lpstr>Slayt 25</vt:lpstr>
      <vt:lpstr>Uygun olmayan soru tarzları</vt:lpstr>
      <vt:lpstr>Slayt 27</vt:lpstr>
      <vt:lpstr>Slayt 28</vt:lpstr>
      <vt:lpstr>Slayt 29</vt:lpstr>
      <vt:lpstr>Bağlantılandırma </vt:lpstr>
      <vt:lpstr>Slayt 31</vt:lpstr>
      <vt:lpstr>Slayt 32</vt:lpstr>
      <vt:lpstr>Slayt 33</vt:lpstr>
      <vt:lpstr>Kendini açma</vt:lpstr>
      <vt:lpstr>Yorumlama</vt:lpstr>
      <vt:lpstr>Konu değiştirme</vt:lpstr>
      <vt:lpstr>Slayt 37</vt:lpstr>
      <vt:lpstr>Sonuç</vt:lpstr>
    </vt:vector>
  </TitlesOfParts>
  <Company>-=[By NeC]=-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Teknikler</dc:title>
  <dc:creator>Dr</dc:creator>
  <cp:lastModifiedBy>user</cp:lastModifiedBy>
  <cp:revision>108</cp:revision>
  <dcterms:created xsi:type="dcterms:W3CDTF">2020-09-04T12:19:53Z</dcterms:created>
  <dcterms:modified xsi:type="dcterms:W3CDTF">2020-09-21T05:51:16Z</dcterms:modified>
</cp:coreProperties>
</file>